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FFFFFF"/>
    <a:srgbClr val="4EA72E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3C8B-3F7B-4252-83C9-4AE203F7D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03782-4451-22EB-3D23-1B19EEB95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9F42C-0F6E-7781-1073-6C27FE2C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7890B-82DC-794C-3B37-5A8A3D828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00A8B-7996-26C7-47F2-683C5B0D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22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055BE-86F0-0F8E-F33B-BC222955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D679A-1DF6-E12E-FFCB-4326844D7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4A874-986D-DBAE-95D0-8D4E4F34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5B2A2-8E59-8CC0-2773-6AD5B2E8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50063-006E-11DF-E8B8-84E26068E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12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DE70A-B7A0-DDCE-7AF8-CAE8088E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43DDB-08A2-AA2C-7069-604E34665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98E58-3DCA-063C-14D8-0A2BFAE7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635A1-4421-D904-22BE-C5DE42645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E35D1-4CA3-FAE8-ACE4-B667A81E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A5ED-7F8B-0566-1D9F-73C2CB10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5BF5-23AA-C844-7AC1-BD9009BA9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3EA1A-E2EC-AE0C-4839-DFA9A4DAB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E5F1A-BF72-2208-921C-462E78E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E3377-751E-5EBD-77E0-CA44A828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A7699-D284-41D2-64EF-8F11D16A9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7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1102-E12E-6A17-F725-C19196E1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03083-7BD0-153F-1909-1630AB22C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5D42D-F142-B926-4860-A3A59701E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B9EEB-BA21-EE02-BB34-3F781EA8D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5C747-3C31-EF0E-686A-FB71634FF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96DD8-9E2E-03E5-8E60-F125D614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B253A2-FD63-9BCA-79A2-CA269B161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B2FD25-F60F-F87E-9EA9-D7729B82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9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4D657-DDF5-EFC9-C67D-86D5B57FE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538AF-F14A-3818-25A5-C56B32B1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F0A51-1F6E-6651-73E2-4D314C14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343A1-B8DB-DE33-5C55-BB2D3B061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4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CDE75-C645-7730-FCD1-E07B5BEB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6821C-22EA-ABA8-CE0D-5D4D123F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E69F9-7E64-2575-040B-C53F6476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7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F6A3-FDB2-926C-4443-4ECD2587C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8B369-A0C9-F6FB-AF36-1F0DE1308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7A6A7-D7FC-B2D8-A67C-C4C46A2C1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01EF2-9F34-87F9-217B-6D9BE87E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06BBF-C03C-BE18-941C-D619A95BA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12E3E-4AB2-119D-6810-6DBBF6C8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4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2B6A-9F1C-1A68-9778-9A2E887B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61303-AF85-B61E-C330-01B1D8C66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9F39F-1A85-C181-7F8C-ABAF64D60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5578B-FE40-B0D4-7463-D8FAA4F7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2EFE2-6E39-D4B6-5733-02746731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340E4-C98C-C82E-A97C-8C94780F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5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460-3FC5-8847-4BA0-858FF287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2C879-0B61-1BDA-002A-07E4DBE68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73EDF-B929-3C1C-08DE-E5F6E626F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6899D-D6B6-410E-FABC-0A1C4870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4B3D0-1549-2FBF-B82B-CCA8159F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4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A433C-D8D6-5A7C-6FB1-D54518767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59A0E-F7C9-2B5F-01CC-BC09FFA75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A13E2-896E-79C0-7A1A-44B93C7C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ED78E-7EA5-649F-C427-8B4BEBF60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C9D48-3F58-D66F-C4A0-54C2D196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87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F7F466-2A94-9F75-3F7D-90618325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64503-F11A-7EBD-27F9-67AF2EB1A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69943-F768-4EE3-5463-43CA9B2E9F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ABEDA-CFDE-4D8A-A743-C73D3A06F7F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E3353-4946-427A-A457-C781BD17D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A028F-FD3B-EFA5-9910-5057CBDFF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94720-7865-4E59-8124-1F8D6465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8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A63C9B-E41B-AFB2-4EC8-1DF3688857C9}"/>
              </a:ext>
            </a:extLst>
          </p:cNvPr>
          <p:cNvSpPr txBox="1"/>
          <p:nvPr/>
        </p:nvSpPr>
        <p:spPr>
          <a:xfrm>
            <a:off x="888105" y="330021"/>
            <a:ext cx="3549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Swept Frequency Acoustic Interferometry (SFAI) Set Up with Omicron Lab’s Bode 100.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69585D-C596-1571-1588-2BF9B7D6F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5" t="5000" r="9374"/>
          <a:stretch>
            <a:fillRect/>
          </a:stretch>
        </p:blipFill>
        <p:spPr>
          <a:xfrm>
            <a:off x="5447631" y="0"/>
            <a:ext cx="6744369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9D6A94F-F921-9D12-3B78-2064B5992657}"/>
              </a:ext>
            </a:extLst>
          </p:cNvPr>
          <p:cNvSpPr/>
          <p:nvPr/>
        </p:nvSpPr>
        <p:spPr>
          <a:xfrm>
            <a:off x="6342845" y="70836"/>
            <a:ext cx="4359499" cy="779171"/>
          </a:xfrm>
          <a:prstGeom prst="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B3671A-9F59-A91D-7C1F-C832DFB85700}"/>
              </a:ext>
            </a:extLst>
          </p:cNvPr>
          <p:cNvSpPr/>
          <p:nvPr/>
        </p:nvSpPr>
        <p:spPr>
          <a:xfrm>
            <a:off x="7572777" y="2240924"/>
            <a:ext cx="1944710" cy="1188076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E0F8ED-8574-AF5C-A4D3-31712AFBAE84}"/>
              </a:ext>
            </a:extLst>
          </p:cNvPr>
          <p:cNvSpPr/>
          <p:nvPr/>
        </p:nvSpPr>
        <p:spPr>
          <a:xfrm>
            <a:off x="8120130" y="5306096"/>
            <a:ext cx="1178416" cy="97879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50A9F8-D844-B9F0-4EBD-8F5B6B9A5A07}"/>
              </a:ext>
            </a:extLst>
          </p:cNvPr>
          <p:cNvSpPr txBox="1"/>
          <p:nvPr/>
        </p:nvSpPr>
        <p:spPr>
          <a:xfrm>
            <a:off x="355600" y="1714020"/>
            <a:ext cx="2762250" cy="1954381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Bode 100 Vector Network Analyzer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Controlled through the Bode Analyzer Suite (BAS)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For automated measurements, BAS is used in conjunction with LabVIEW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Primarily used for SFAI measurements and is particularly suited for testing liquid and gel like materials.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Primary test mode for SFAI is Transmission/Reflection mode.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328BD9B-FC76-54A6-60BE-809EEF1B1D06}"/>
              </a:ext>
            </a:extLst>
          </p:cNvPr>
          <p:cNvCxnSpPr>
            <a:cxnSpLocks/>
            <a:stCxn id="16" idx="3"/>
            <a:endCxn id="13" idx="1"/>
          </p:cNvCxnSpPr>
          <p:nvPr/>
        </p:nvCxnSpPr>
        <p:spPr>
          <a:xfrm flipV="1">
            <a:off x="3117850" y="460422"/>
            <a:ext cx="3224995" cy="2230789"/>
          </a:xfrm>
          <a:prstGeom prst="straightConnector1">
            <a:avLst/>
          </a:prstGeom>
          <a:ln>
            <a:solidFill>
              <a:srgbClr val="0F9ED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A32564-81AD-7EFA-4E37-6600B30EA01D}"/>
              </a:ext>
            </a:extLst>
          </p:cNvPr>
          <p:cNvSpPr txBox="1"/>
          <p:nvPr/>
        </p:nvSpPr>
        <p:spPr>
          <a:xfrm>
            <a:off x="3206750" y="2729682"/>
            <a:ext cx="1885950" cy="938719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B-AMP 12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External power amplifier for the Bode 100.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Amplifies the signal by 12dB (= x4)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8FD00-C28A-7004-6D90-F2CF9B0EF122}"/>
              </a:ext>
            </a:extLst>
          </p:cNvPr>
          <p:cNvSpPr txBox="1"/>
          <p:nvPr/>
        </p:nvSpPr>
        <p:spPr>
          <a:xfrm>
            <a:off x="355600" y="3770147"/>
            <a:ext cx="4737100" cy="2462213"/>
          </a:xfrm>
          <a:prstGeom prst="rect">
            <a:avLst/>
          </a:prstGeom>
          <a:noFill/>
          <a:ln>
            <a:solidFill>
              <a:srgbClr val="E9713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Sample with Transducers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Transducers must be centered on opposite sides of the sample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Transducers and sample walls must be coupled with the following options: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Super glue, with both contact surface fully colored with </a:t>
            </a:r>
            <a:r>
              <a:rPr lang="en-US" sz="1100" dirty="0" err="1"/>
              <a:t>Steadler’s</a:t>
            </a:r>
            <a:r>
              <a:rPr lang="en-US" sz="1100" dirty="0"/>
              <a:t> blue </a:t>
            </a:r>
            <a:r>
              <a:rPr lang="en-US" sz="1100" dirty="0" err="1"/>
              <a:t>Lumocolor</a:t>
            </a:r>
            <a:r>
              <a:rPr lang="en-US" sz="1100" dirty="0"/>
              <a:t> permanent marker prior to applying super glue.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100" dirty="0"/>
              <a:t>Good for short and long term testing.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100" dirty="0"/>
              <a:t>Requires careful cleaning of transducers (and sample if applicable) with Acetone post-testing.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/>
              <a:t>Echo Shear Wave </a:t>
            </a:r>
            <a:r>
              <a:rPr lang="en-US" sz="1100" dirty="0" err="1"/>
              <a:t>Couplant</a:t>
            </a:r>
            <a:r>
              <a:rPr lang="en-US" sz="1100" dirty="0"/>
              <a:t>, applying an even thin layer on the transducer or material contact surfaces.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100" dirty="0"/>
              <a:t>Good for long term testing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100" dirty="0"/>
              <a:t>Water-soluble, easily cleaned post-testing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D3B775-D789-593B-39C0-E460FA87E2C8}"/>
              </a:ext>
            </a:extLst>
          </p:cNvPr>
          <p:cNvCxnSpPr>
            <a:stCxn id="9" idx="3"/>
            <a:endCxn id="14" idx="1"/>
          </p:cNvCxnSpPr>
          <p:nvPr/>
        </p:nvCxnSpPr>
        <p:spPr>
          <a:xfrm flipV="1">
            <a:off x="5092700" y="2834962"/>
            <a:ext cx="2480077" cy="364080"/>
          </a:xfrm>
          <a:prstGeom prst="straightConnector1">
            <a:avLst/>
          </a:prstGeom>
          <a:ln>
            <a:solidFill>
              <a:srgbClr val="4EA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8BF709-2800-FCAB-B1F6-FF342C22B5C2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>
            <a:off x="5092700" y="5001254"/>
            <a:ext cx="3027430" cy="794239"/>
          </a:xfrm>
          <a:prstGeom prst="straightConnector1">
            <a:avLst/>
          </a:prstGeom>
          <a:ln>
            <a:solidFill>
              <a:srgbClr val="E971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36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FCAF40-B3F8-FF30-BA93-877205D2659D}"/>
              </a:ext>
            </a:extLst>
          </p:cNvPr>
          <p:cNvSpPr txBox="1"/>
          <p:nvPr/>
        </p:nvSpPr>
        <p:spPr>
          <a:xfrm>
            <a:off x="2495550" y="2959100"/>
            <a:ext cx="720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Demo Video: </a:t>
            </a:r>
          </a:p>
        </p:txBody>
      </p:sp>
    </p:spTree>
    <p:extLst>
      <p:ext uri="{BB962C8B-B14F-4D97-AF65-F5344CB8AC3E}">
        <p14:creationId xmlns:p14="http://schemas.microsoft.com/office/powerpoint/2010/main" val="3858135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186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Valerie Bracho Perez</dc:creator>
  <cp:lastModifiedBy>Valerie Bracho Perez</cp:lastModifiedBy>
  <cp:revision>3</cp:revision>
  <dcterms:created xsi:type="dcterms:W3CDTF">2026-09-11T13:59:06Z</dcterms:created>
  <dcterms:modified xsi:type="dcterms:W3CDTF">2026-09-23T14:50:21Z</dcterms:modified>
</cp:coreProperties>
</file>